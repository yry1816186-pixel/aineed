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731520" cy="731520"/>
          </a:xfrm>
          <a:prstGeom prst="round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寻裳 XUNO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4956A"/>
                </a:solidFill>
                <a:latin typeface="微软雅黑"/>
              </a:defRPr>
            </a:pPr>
            <a:r>
              <a:t>AI穿搭决策平台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383280"/>
            <a:ext cx="18288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微软雅黑"/>
              </a:defRPr>
            </a:pPr>
            <a:r>
              <a:t>让每个年轻人都能自信地迈出职场第一步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1人 + AI辅助开发  |  21天  |  34万行代码  |  345次提交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371600"/>
            <a:ext cx="2926080" cy="2926080"/>
          </a:xfrm>
          <a:prstGeom prst="roundRect">
            <a:avLst/>
          </a:prstGeom>
          <a:solidFill>
            <a:srgbClr val="1E1E38"/>
          </a:solidFill>
          <a:ln w="25400">
            <a:solidFill>
              <a:srgbClr val="9E7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[ AI生成面试场景</a:t>
            </a:r>
            <a:br/>
            <a:r>
              <a:t>  穿搭效果图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 扫码体验Demo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第十一届中国国际大学生创新大赛  校赛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痛点：小张的故事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solidFill>
            <a:srgbClr val="22223A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小张，23岁，后天去互联网公司面试产品经理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CCCCCC"/>
                </a:solidFill>
                <a:latin typeface="微软雅黑"/>
              </a:defRPr>
            </a:pPr>
            <a:r>
              <a:t>打开衣柜，30件衣服，不知道穿哪件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CCCCCC"/>
                </a:solidFill>
                <a:latin typeface="微软雅黑"/>
              </a:defRPr>
            </a:pPr>
            <a:r>
              <a:t>网上搜"面试穿什么" → 2万个结果，越看越慌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6AD55"/>
                </a:solidFill>
                <a:latin typeface="微软雅黑"/>
              </a:defRPr>
            </a:pPr>
            <a:r>
              <a:t>最后选了最安全的方案 —— 西装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E53E3E"/>
                </a:solidFill>
                <a:latin typeface="微软雅黑"/>
              </a:defRPr>
            </a:pPr>
            <a:r>
              <a:t>但互联网公司不需要西装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029200" cy="201168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 衣柜照片：衣服很多但无从选择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657600"/>
            <a:ext cx="502920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 搜索截图："面试穿什么" 2万个结果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6AD55"/>
                </a:solidFill>
                <a:latin typeface="微软雅黑"/>
              </a:defRPr>
            </a:pPr>
            <a:r>
              <a:t>这不是小张一个人的问题，这是900万毕业生的共同困境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问题量化：900万人的穿搭焦虑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2286000"/>
          </a:xfrm>
          <a:prstGeom prst="rect">
            <a:avLst/>
          </a:prstGeom>
          <a:solidFill>
            <a:srgbClr val="22223A"/>
          </a:solidFill>
          <a:ln w="1270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53E3E"/>
                </a:solidFill>
                <a:latin typeface="DIN"/>
              </a:defRPr>
            </a:pPr>
            <a:r>
              <a:t>900万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毕业生/年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560320" cy="2286000"/>
          </a:xfrm>
          <a:prstGeom prst="rect">
            <a:avLst/>
          </a:prstGeom>
          <a:solidFill>
            <a:srgbClr val="22223A"/>
          </a:solidFill>
          <a:ln w="12700">
            <a:solidFill>
              <a:srgbClr val="F6A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6AD55"/>
                </a:solidFill>
                <a:latin typeface="DIN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不知道面试穿什么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2286000"/>
          </a:xfrm>
          <a:prstGeom prst="rect">
            <a:avLst/>
          </a:prstGeom>
          <a:solidFill>
            <a:srgbClr val="22223A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C4956A"/>
                </a:solidFill>
                <a:latin typeface="DIN"/>
              </a:defRPr>
            </a:pPr>
            <a:r>
              <a:t>2小时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平均决定穿搭时间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560320" cy="2286000"/>
          </a:xfrm>
          <a:prstGeom prst="rect">
            <a:avLst/>
          </a:prstGeom>
          <a:solidFill>
            <a:srgbClr val="22223A"/>
          </a:solidFill>
          <a:ln w="1270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53E3E"/>
                </a:solidFill>
                <a:latin typeface="DIN"/>
              </a:defRPr>
            </a:pPr>
            <a:r>
              <a:t>1620万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小时/年 穿搭焦虑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男性用户尤甚：现有穿搭内容严重偏向女性，男性几乎被忽视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数据来源：</a:t>
            </a:r>
          </a:p>
          <a:p>
            <a:pPr algn="l">
              <a:lnSpc>
                <a:spcPts val="1439"/>
              </a:lnSpc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• 900万毕业生 — 教育部2025数据</a:t>
            </a:r>
          </a:p>
          <a:p>
            <a:pPr algn="l">
              <a:lnSpc>
                <a:spcPts val="1439"/>
              </a:lnSpc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• 90%不知道面试穿什么 — 智联招聘《2025中国大学生就业报告》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解决方案：伊伊AI造型师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956A"/>
                </a:solidFill>
                <a:latin typeface="微软雅黑"/>
              </a:defRPr>
            </a:pPr>
            <a:r>
              <a:t>首页即入口，无需搜索 — 3步解决穿搭焦虑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640080" cy="640080"/>
          </a:xfrm>
          <a:prstGeom prst="round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告诉伊伊场景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"明天去互联网公司面试"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606040"/>
            <a:ext cx="45720" cy="64008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640080" cy="640080"/>
          </a:xfrm>
          <a:prstGeom prst="round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获取个性化推荐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3套Smart Casual搭配</a:t>
            </a:r>
            <a:br/>
            <a:r>
              <a:t>+ 匹配度分析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977640"/>
            <a:ext cx="45720" cy="64008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640080" cy="64008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81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AI试穿确认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虚拟试穿效果</a:t>
            </a:r>
            <a:br/>
            <a:r>
              <a:t>确认后一键购买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463040"/>
            <a:ext cx="5303520" cy="347472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286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[ 产品界面截图</a:t>
            </a:r>
            <a:br/>
            <a:r>
              <a:t>伊伊对话界面</a:t>
            </a:r>
            <a:br/>
            <a:r>
              <a:t>面试场景推荐流程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1E1E38"/>
          </a:solidFill>
          <a:ln w="12700">
            <a:solidFill>
              <a:srgbClr val="4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53E3E"/>
                </a:solidFill>
                <a:latin typeface="微软雅黑"/>
              </a:defRPr>
            </a:pPr>
            <a:r>
              <a:t>Before: 搜索2小时 + 可能穿错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8BB78"/>
                </a:solidFill>
                <a:latin typeface="微软雅黑"/>
              </a:defRPr>
            </a:pPr>
            <a:r>
              <a:t>After: XUNO 3分钟 + 穿得对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产品Demo：核心体验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956A"/>
                </a:solidFill>
                <a:latin typeface="微软雅黑"/>
              </a:defRPr>
            </a:pPr>
            <a:r>
              <a:t>2分20秒 Demo精华 — 3个"哇"时刻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515600" cy="3657600"/>
          </a:xfrm>
          <a:prstGeom prst="rect">
            <a:avLst/>
          </a:prstGeom>
          <a:solidFill>
            <a:srgbClr val="0D0D1A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99999"/>
                </a:solidFill>
                <a:latin typeface="微软雅黑"/>
              </a:defRPr>
            </a:pPr>
            <a:r>
              <a:t>[ Demo 视频播放区域 ]</a:t>
            </a:r>
            <a:br/>
            <a:br/>
            <a:r>
              <a:t>手机投屏 / 实时演示 / 录屏播放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60720"/>
            <a:ext cx="3291840" cy="640080"/>
          </a:xfrm>
          <a:prstGeom prst="rect">
            <a:avLst/>
          </a:prstGeom>
          <a:solidFill>
            <a:srgbClr val="22223A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956A"/>
                </a:solidFill>
                <a:latin typeface="微软雅黑"/>
              </a:defRPr>
            </a:pPr>
            <a:r>
              <a:t>哇1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语音交互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伊伊主动问候，无需搜索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760720"/>
            <a:ext cx="3291840" cy="640080"/>
          </a:xfrm>
          <a:prstGeom prst="rect">
            <a:avLst/>
          </a:prstGeom>
          <a:solidFill>
            <a:srgbClr val="22223A"/>
          </a:solidFill>
          <a:ln w="12700">
            <a:solidFill>
              <a:srgbClr val="F6A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806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6AD55"/>
                </a:solidFill>
                <a:latin typeface="微软雅黑"/>
              </a:defRPr>
            </a:pPr>
            <a:r>
              <a:t>哇2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匹配度雷达图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五维可视化 + 实时优化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760720"/>
            <a:ext cx="3291840" cy="640080"/>
          </a:xfrm>
          <a:prstGeom prst="rect">
            <a:avLst/>
          </a:prstGeom>
          <a:solidFill>
            <a:srgbClr val="22223A"/>
          </a:solidFill>
          <a:ln w="12700">
            <a:solidFill>
              <a:srgbClr val="4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806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BB78"/>
                </a:solidFill>
                <a:latin typeface="微软雅黑"/>
              </a:defRPr>
            </a:pPr>
            <a:r>
              <a:t>哇3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记忆能力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跨场景偏好记忆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技术架构：FashionCLIP + 对话状态机 + 六层推荐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规则引擎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场景/体型/肤色基础规则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4754880" cy="640080"/>
          </a:xfrm>
          <a:prstGeom prst="round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场景匹配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FashionCLIP 512维向量语义匹配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926080"/>
            <a:ext cx="4480560" cy="640080"/>
          </a:xfrm>
          <a:prstGeom prst="roundRect">
            <a:avLst/>
          </a:prstGeom>
          <a:solidFill>
            <a:srgbClr val="B8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体型适配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5种体型分类 + 阈值配置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703320"/>
            <a:ext cx="4206240" cy="640080"/>
          </a:xfrm>
          <a:prstGeom prst="round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色彩协调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233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肤色-服装色彩协调度计算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480560"/>
            <a:ext cx="3931920" cy="64008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风格一致性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00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用户风格偏好向量匹配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257800"/>
            <a:ext cx="3657600" cy="64008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LLM精排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GLM-4-Flash 最终排序+解释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502920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FashionCLIP 视觉理解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服装图片 → 512维向量 → 语义匹配</a:t>
            </a:r>
            <a:br/>
            <a:r>
              <a:t>理解"oversized blazer" vs "slim-fit shirt"</a:t>
            </a:r>
            <a:br/>
            <a:r>
              <a:t>比通用CLIP准确率高~18%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657600"/>
            <a:ext cx="5029200" cy="13716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对话状态机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GREET(问候) → CONTEXT(采集) → GENERATE(推荐)</a:t>
            </a:r>
            <a:br/>
            <a:r>
              <a:t>Redis存储 | TTL 3600秒 | 即时状态更新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212080"/>
            <a:ext cx="5029200" cy="109728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多LLM降级链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GLM(主) → DeepSeek(备) → 豆包(备)</a:t>
            </a:r>
            <a:br/>
            <a:r>
              <a:t>熔断器: 5次失败→熔断 | 60秒后半开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创新点1：ChineseFashionCLIP 微调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问题：FashionCLIP基于Farfetch(英国)数据训练，有西方审美偏见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solidFill>
            <a:srgbClr val="2A1A1A"/>
          </a:solidFill>
          <a:ln w="1270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3E3E"/>
                </a:solidFill>
                <a:latin typeface="微软雅黑"/>
              </a:defRPr>
            </a:pPr>
            <a:r>
              <a:t>原版 FashionCLIP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输入: "学院风面试搭配"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返回: 西装革履（西方语境）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[ 截图位置：原版检索结果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029200" cy="2286000"/>
          </a:xfrm>
          <a:prstGeom prst="rect">
            <a:avLst/>
          </a:prstGeom>
          <a:solidFill>
            <a:srgbClr val="1A2A1A"/>
          </a:solidFill>
          <a:ln w="12700">
            <a:solidFill>
              <a:srgbClr val="4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8BB78"/>
                </a:solidFill>
                <a:latin typeface="微软雅黑"/>
              </a:defRPr>
            </a:pPr>
            <a:r>
              <a:t>ChineseFashionCLIP 微调版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输入: "学院风面试搭配"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返回: 休闲西装+白T+牛仔裤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[ 截图位置：微调版检索结果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8BB78"/>
                </a:solidFill>
                <a:latin typeface="DIN"/>
              </a:defRPr>
            </a:pPr>
            <a:r>
              <a:t>~18%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检索准确率提升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来源: EVIDENCE/decisions.md ADR-001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389120"/>
            <a:ext cx="5029200" cy="18288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数据飞轮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46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用户使用 → 反馈数据 → 模型优化 → 推荐更准 → 用户更依赖</a:t>
            </a:r>
            <a:br/>
            <a:br/>
            <a:r>
              <a:t>含金量：这是我们自己训练的模型，不是API调用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创新点2：对话式记忆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956A"/>
                </a:solidFill>
                <a:latin typeface="微软雅黑"/>
              </a:defRPr>
            </a:pPr>
            <a:r>
              <a:t>伊伊记住你在对话中表达的每一个偏好 — 越用越懂你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486400" cy="32004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场景演示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用户: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我不喜欢高领的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80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伊伊: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8BB78"/>
                </a:solidFill>
                <a:latin typeface="微软雅黑"/>
              </a:defRPr>
            </a:pPr>
            <a:r>
              <a:t>记住了！以后都推荐圆领和V领给你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28016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[ 切换到约会场景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703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6AD55"/>
                </a:solidFill>
                <a:latin typeface="微软雅黑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伊伊: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14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8BB78"/>
                </a:solidFill>
                <a:latin typeface="微软雅黑"/>
              </a:defRPr>
            </a:pPr>
            <a:r>
              <a:t>推荐V领针织衫 — 因为你说过不喜欢高领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技术实现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68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跨场景应用: "不喜欢高领"在面试/约会/日常都生效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Redis存储: dialog:context:{sessionId}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383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TTL 3600秒 + 即时状态更新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不是静态画像，是实时对话理解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关键词提取 → 偏好存储 → 推荐过滤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6AD55"/>
                </a:solidFill>
                <a:latin typeface="微软雅黑"/>
              </a:defRPr>
            </a:pPr>
            <a:r>
              <a:t>核心壁垒：记忆不是预设标签，是实时对话理解 — 竞争对手做不到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创新点3：穿搭偏好进化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956A"/>
                </a:solidFill>
                <a:latin typeface="微软雅黑"/>
              </a:defRPr>
            </a:pPr>
            <a:r>
              <a:t>用户的穿搭偏好不是静态的，而是持续进化的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2918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6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66688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偏好不确定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[ 风格偏好雷达图 ]</a:t>
            </a:r>
            <a:br/>
            <a:r>
              <a:t>雷达图较小</a:t>
            </a:r>
            <a:br/>
            <a:r>
              <a:t>探索阶段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956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2918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9E764E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偏好开始成形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[ 风格偏好雷达图 ]</a:t>
            </a:r>
            <a:br/>
            <a:r>
              <a:t>方向明确</a:t>
            </a:r>
            <a:br/>
            <a:r>
              <a:t>风格初现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956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32918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956A"/>
                </a:solidFill>
                <a:latin typeface="Calibri"/>
              </a:defRPr>
            </a:pPr>
            <a:r>
              <a:t>Day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偏好清晰饱满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[ 风格偏好雷达图 ]</a:t>
            </a:r>
            <a:br/>
            <a:r>
              <a:t>伊伊比你更</a:t>
            </a:r>
            <a:br/>
            <a:r>
              <a:t>了解你的风格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1E1E38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数据飞轮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用户使用 → 数据积累 → 模型优化 → 推荐更准 → 用户更依赖 → 30天后，伊伊比你更了解你的风格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用户数据：种子用户测试结果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C4956A"/>
                </a:solidFill>
                <a:latin typeface="DIN"/>
              </a:defRPr>
            </a:pPr>
            <a:r>
              <a:t>XX/100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系统可用性评分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F6A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满意度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6AD55"/>
                </a:solidFill>
                <a:latin typeface="DIN"/>
              </a:defRPr>
            </a:pPr>
            <a:r>
              <a:t>XX%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推荐满意度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56032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4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决策时间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8BB78"/>
                </a:solidFill>
                <a:latin typeface="DIN"/>
              </a:defRPr>
            </a:pPr>
            <a:r>
              <a:t>X→Y分钟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平均决策时间缩短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56032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41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NPS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182C4"/>
                </a:solidFill>
                <a:latin typeface="DIN"/>
              </a:defRPr>
            </a:pPr>
            <a:r>
              <a:t>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净推荐值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6400800" cy="22860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9319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典型用户反馈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"以前面试穿搭要纠结一晚上，用了XUNO三分钟就搞定了" — 小张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"终于有个App不只会推荐女装" — 小李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"伊伊真的记得我说过的话，太神奇了" — 小王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840480"/>
            <a:ext cx="3749039" cy="22860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45720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[ 用户使用App</a:t>
            </a:r>
            <a:br/>
            <a:r>
              <a:t>真实照片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数据来源于5人种子用户测试，2026年5月 | 数据待填充: prompts/15-user-test.md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商业模式：精益创业，低盈亏平衡点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微软雅黑"/>
              </a:defRPr>
            </a:pPr>
            <a:r>
              <a:t>收入模型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920240"/>
            <a:ext cx="91440" cy="7315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8BB78"/>
                </a:solidFill>
                <a:latin typeface="微软雅黑"/>
              </a:defRPr>
            </a:pPr>
            <a:r>
              <a:t>免费层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AI推荐 + 基础对话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BB78"/>
                </a:solidFill>
                <a:latin typeface="微软雅黑"/>
              </a:defRPr>
            </a:pPr>
            <a:r>
              <a:t>0元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926080"/>
            <a:ext cx="91440" cy="73152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6AD55"/>
                </a:solidFill>
                <a:latin typeface="微软雅黑"/>
              </a:defRPr>
            </a:pPr>
            <a:r>
              <a:t>内容产品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色彩报告6.9元 | 体型分析9.9元</a:t>
            </a:r>
            <a:br/>
            <a:r>
              <a:t>胶囊衣橱14.9元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微软雅黑"/>
              </a:defRPr>
            </a:pPr>
            <a:r>
              <a:t>付费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931920"/>
            <a:ext cx="91440" cy="73152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电商佣金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淘宝客2-5% + 京东8-15%</a:t>
            </a:r>
            <a:br/>
            <a:r>
              <a:t>混合加权约5-8%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微软雅黑"/>
              </a:defRPr>
            </a:pPr>
            <a:r>
              <a:t>交易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029200" cy="365760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微软雅黑"/>
              </a:defRPr>
            </a:pPr>
            <a:r>
              <a:t>成本结构（1000 DAU/月）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350元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服务器+数据库+存储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虚拟试穿API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1,125元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GLM-4V-Plus调用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LLM备用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100元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DeepSeek/Qwen备用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杂项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50元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域名+监控+其他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297680"/>
            <a:ext cx="4389120" cy="1270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月总成本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~1,625元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303520"/>
            <a:ext cx="3474720" cy="914400"/>
          </a:xfrm>
          <a:prstGeom prst="rect">
            <a:avLst/>
          </a:prstGeom>
          <a:solidFill>
            <a:srgbClr val="22223A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394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月成本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956A"/>
                </a:solidFill>
                <a:latin typeface="DIN"/>
              </a:defRPr>
            </a:pPr>
            <a:r>
              <a:t>~1,625元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5303520"/>
            <a:ext cx="3474720" cy="914400"/>
          </a:xfrm>
          <a:prstGeom prst="rect">
            <a:avLst/>
          </a:prstGeom>
          <a:solidFill>
            <a:srgbClr val="22223A"/>
          </a:solidFill>
          <a:ln w="12700">
            <a:solidFill>
              <a:srgbClr val="4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394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盈亏平衡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8BB78"/>
                </a:solidFill>
                <a:latin typeface="DIN"/>
              </a:defRPr>
            </a:pPr>
            <a:r>
              <a:t>5,000 MAU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5303520"/>
            <a:ext cx="3474720" cy="914400"/>
          </a:xfrm>
          <a:prstGeom prst="rect">
            <a:avLst/>
          </a:prstGeom>
          <a:solidFill>
            <a:srgbClr val="22223A"/>
          </a:solidFill>
          <a:ln w="12700">
            <a:solidFill>
              <a:srgbClr val="4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394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LLM成本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8BB78"/>
                </a:solidFill>
                <a:latin typeface="DIN"/>
              </a:defRPr>
            </a:pPr>
            <a:r>
              <a:t>0元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市场规模：TAM / SAM / SOM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1463040"/>
            <a:ext cx="4572000" cy="4572000"/>
          </a:xfrm>
          <a:prstGeom prst="ellipse">
            <a:avLst/>
          </a:prstGeom>
          <a:solidFill>
            <a:srgbClr val="1A1A3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99999"/>
                </a:solidFill>
                <a:latin typeface="DIN"/>
              </a:defRPr>
            </a:pPr>
            <a:r>
              <a:t>2.3万亿/年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中国服装电商市场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0" y="2011680"/>
            <a:ext cx="3291840" cy="3291840"/>
          </a:xfrm>
          <a:prstGeom prst="ellipse">
            <a:avLst/>
          </a:prstGeom>
          <a:solidFill>
            <a:srgbClr val="222240"/>
          </a:solidFill>
          <a:ln w="25400">
            <a:solidFill>
              <a:srgbClr val="9E7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E764E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E764E"/>
                </a:solidFill>
                <a:latin typeface="DIN"/>
              </a:defRPr>
            </a:pPr>
            <a:r>
              <a:t>4,600亿/年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E764E"/>
                </a:solidFill>
                <a:latin typeface="微软雅黑"/>
              </a:defRPr>
            </a:pPr>
            <a:r>
              <a:t>18-35岁线上消费者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0" y="2468880"/>
            <a:ext cx="2194560" cy="2194560"/>
          </a:xfrm>
          <a:prstGeom prst="ellipse">
            <a:avLst/>
          </a:prstGeom>
          <a:solidFill>
            <a:srgbClr val="333355"/>
          </a:solidFill>
          <a:ln w="25400">
            <a:solidFill>
              <a:srgbClr val="C4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956A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DIN"/>
              </a:defRPr>
            </a:pPr>
            <a:r>
              <a:t>1亿/年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4956A"/>
                </a:solidFill>
                <a:latin typeface="微软雅黑"/>
              </a:defRPr>
            </a:pPr>
            <a:r>
              <a:t>50万用户×200元ARPU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微软雅黑"/>
              </a:defRPr>
            </a:pPr>
            <a:r>
              <a:t>增长路径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2148840"/>
            <a:ext cx="137160" cy="137160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Calibri"/>
              </a:defRPr>
            </a:pPr>
            <a:r>
              <a:t>2026 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1,000用户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校赛→省赛验证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331720"/>
            <a:ext cx="45720" cy="54864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0" y="3063240"/>
            <a:ext cx="137160" cy="137160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Calibri"/>
              </a:defRPr>
            </a:pPr>
            <a:r>
              <a:t>2027 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10,000用户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种子轮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246120"/>
            <a:ext cx="45720" cy="54864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0" y="3977640"/>
            <a:ext cx="137160" cy="137160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Calibri"/>
              </a:defRPr>
            </a:pPr>
            <a:r>
              <a:t>2027 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50,000用户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A轮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4160520"/>
            <a:ext cx="45720" cy="54864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2400" y="4892040"/>
            <a:ext cx="137160" cy="137160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Calibri"/>
              </a:defRPr>
            </a:pPr>
            <a:r>
              <a:t>2028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500,000用户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规模化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对标: Stitch Fix（美国）年营收21亿美元</a:t>
            </a:r>
            <a:br/>
            <a:r>
              <a:t>验证AI穿搭推荐市场需求真实存在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竞品分析：独特优势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956A"/>
                </a:solidFill>
                <a:latin typeface="微软雅黑"/>
              </a:defRPr>
            </a:pPr>
            <a:r>
              <a:t>本质区别：从"你去找穿搭"变成"穿搭来找你"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645920" cy="5943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920240"/>
            <a:ext cx="1828800" cy="5943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9999"/>
                </a:solidFill>
                <a:latin typeface="微软雅黑"/>
              </a:defRPr>
            </a:pPr>
            <a:r>
              <a:t>淘宝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1828800" cy="5943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9999"/>
                </a:solidFill>
                <a:latin typeface="微软雅黑"/>
              </a:defRPr>
            </a:pPr>
            <a:r>
              <a:t>小红书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1828800" cy="5943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9999"/>
                </a:solidFill>
                <a:latin typeface="微软雅黑"/>
              </a:defRPr>
            </a:pPr>
            <a:r>
              <a:t>抖音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920240"/>
            <a:ext cx="2560320" cy="59436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956A"/>
                </a:solidFill>
                <a:latin typeface="微软雅黑"/>
              </a:defRPr>
            </a:pPr>
            <a:r>
              <a:t>XUNO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14600"/>
            <a:ext cx="164592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首页入口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51460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4层深埋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51460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搜索触发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1460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514600"/>
            <a:ext cx="2560320" cy="5943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606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微软雅黑"/>
              </a:defRPr>
            </a:pPr>
            <a:r>
              <a:t>首页即入口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108960"/>
            <a:ext cx="164592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00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推荐方式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108960"/>
            <a:ext cx="182880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200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商品列表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108960"/>
            <a:ext cx="182880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200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UGC内容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108960"/>
            <a:ext cx="182880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200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短视频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108960"/>
            <a:ext cx="2560320" cy="5943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微软雅黑"/>
              </a:defRPr>
            </a:pPr>
            <a:r>
              <a:t>AI对话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703320"/>
            <a:ext cx="164592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794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记忆能力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70332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68880" y="3794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70332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3794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70332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794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3703320"/>
            <a:ext cx="2560320" cy="5943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0" y="3794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微软雅黑"/>
              </a:defRPr>
            </a:pPr>
            <a:r>
              <a:t>穿搭记忆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297680"/>
            <a:ext cx="164592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389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试穿体验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297680"/>
            <a:ext cx="182880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4389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静态图片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297680"/>
            <a:ext cx="182880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4389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297680"/>
            <a:ext cx="1828800" cy="5943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4389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4297680"/>
            <a:ext cx="2560320" cy="5943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80" y="4389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微软雅黑"/>
              </a:defRPr>
            </a:pPr>
            <a:r>
              <a:t>AI生成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4892040"/>
            <a:ext cx="164592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4983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微软雅黑"/>
              </a:defRPr>
            </a:pPr>
            <a:r>
              <a:t>包容性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77440" y="489204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分男女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489204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8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偏女性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4892040"/>
            <a:ext cx="1828800" cy="5943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偏女性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4892040"/>
            <a:ext cx="2560320" cy="5943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0" y="4983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微软雅黑"/>
              </a:defRPr>
            </a:pPr>
            <a:r>
              <a:t>全人群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微软雅黑"/>
              </a:defRPr>
            </a:pPr>
            <a:r>
              <a:t>XUNO独有: 对话式推荐 + 穿搭记忆 + AI试穿 + 全人群覆盖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1E1E38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AD55"/>
                </a:solidFill>
                <a:latin typeface="微软雅黑"/>
              </a:defRPr>
            </a:pPr>
            <a:r>
              <a:t>"只有XUNO让AI主动找到你，而不是你去搜"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寻裳 XUNO — AI穿搭决策平台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团队 + 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微软雅黑"/>
              </a:defRPr>
            </a:pPr>
            <a:r>
              <a:t>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袁荣跃 — 独立全栈开发者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开发方式: AI辅助开发（Claude Code + GLM）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956A"/>
                </a:solidFill>
                <a:latin typeface="DIN"/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956A"/>
                </a:solidFill>
                <a:latin typeface="DIN"/>
              </a:defRPr>
            </a:pPr>
            <a:r>
              <a:t>345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次提交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956A"/>
                </a:solidFill>
                <a:latin typeface="DIN"/>
              </a:defRPr>
            </a:pPr>
            <a:r>
              <a:t>34万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行代码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956A"/>
                </a:solidFill>
                <a:latin typeface="DIN"/>
              </a:defRPr>
            </a:pPr>
            <a:r>
              <a:t>1,581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个源文件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8BB78"/>
                </a:solidFill>
                <a:latin typeface="微软雅黑"/>
              </a:defRPr>
            </a:pPr>
            <a:r>
              <a:t>AI辅助下开发效率约5.5倍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5个关键决策ADR记录 | AI写代码，我做决策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代码生成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617720"/>
            <a:ext cx="1371600" cy="18288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4617720"/>
            <a:ext cx="914400" cy="1828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AI / 40%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架构设计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983480"/>
            <a:ext cx="685800" cy="18288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4983480"/>
            <a:ext cx="1600200" cy="1828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AI / 70% 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文档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5349240"/>
            <a:ext cx="1828800" cy="18288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5349240"/>
            <a:ext cx="457200" cy="1828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AI / 20% 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决策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5715000"/>
            <a:ext cx="228600" cy="18288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88920" y="5715000"/>
            <a:ext cx="2057400" cy="1828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AI / 90% 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1E1E38"/>
          </a:solidFill>
          <a:ln w="12700">
            <a:solidFill>
              <a:srgbClr val="9E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956A"/>
                </a:solidFill>
                <a:latin typeface="微软雅黑"/>
              </a:defRPr>
            </a:pPr>
            <a:r>
              <a:t>路线图</a:t>
            </a:r>
          </a:p>
        </p:txBody>
      </p:sp>
      <p:sp>
        <p:nvSpPr>
          <p:cNvPr id="39" name="Oval 38"/>
          <p:cNvSpPr/>
          <p:nvPr/>
        </p:nvSpPr>
        <p:spPr>
          <a:xfrm>
            <a:off x="6949440" y="2084832"/>
            <a:ext cx="182880" cy="182880"/>
          </a:xfrm>
          <a:prstGeom prst="ellipse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13448" y="2286000"/>
            <a:ext cx="45720" cy="50292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Calibri"/>
              </a:defRPr>
            </a:pPr>
            <a:r>
              <a:t>2026.05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校赛（现在）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2860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6AD55"/>
                </a:solidFill>
                <a:latin typeface="微软雅黑"/>
              </a:defRPr>
            </a:pPr>
            <a:r>
              <a:t>← 我们在这里</a:t>
            </a:r>
          </a:p>
        </p:txBody>
      </p:sp>
      <p:sp>
        <p:nvSpPr>
          <p:cNvPr id="44" name="Oval 43"/>
          <p:cNvSpPr/>
          <p:nvPr/>
        </p:nvSpPr>
        <p:spPr>
          <a:xfrm>
            <a:off x="6986016" y="2862072"/>
            <a:ext cx="109728" cy="109728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13448" y="3063240"/>
            <a:ext cx="45720" cy="50292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Calibri"/>
              </a:defRPr>
            </a:pPr>
            <a:r>
              <a:t>2026.07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省赛 + 种子用户100人</a:t>
            </a:r>
          </a:p>
        </p:txBody>
      </p:sp>
      <p:sp>
        <p:nvSpPr>
          <p:cNvPr id="48" name="Oval 47"/>
          <p:cNvSpPr/>
          <p:nvPr/>
        </p:nvSpPr>
        <p:spPr>
          <a:xfrm>
            <a:off x="6986016" y="3639312"/>
            <a:ext cx="109728" cy="109728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13448" y="3840480"/>
            <a:ext cx="45720" cy="50292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Calibri"/>
              </a:defRPr>
            </a:pPr>
            <a:r>
              <a:t>2026.09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正式上线</a:t>
            </a:r>
          </a:p>
        </p:txBody>
      </p:sp>
      <p:sp>
        <p:nvSpPr>
          <p:cNvPr id="52" name="Oval 51"/>
          <p:cNvSpPr/>
          <p:nvPr/>
        </p:nvSpPr>
        <p:spPr>
          <a:xfrm>
            <a:off x="6986016" y="4416552"/>
            <a:ext cx="109728" cy="109728"/>
          </a:xfrm>
          <a:prstGeom prst="ellipse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13448" y="4617720"/>
            <a:ext cx="45720" cy="502920"/>
          </a:xfrm>
          <a:prstGeom prst="rect">
            <a:avLst/>
          </a:prstGeom>
          <a:solidFill>
            <a:srgbClr val="9E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956A"/>
                </a:solidFill>
                <a:latin typeface="Calibri"/>
              </a:defRPr>
            </a:pPr>
            <a:r>
              <a:t>2026.12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1,000用户</a:t>
            </a:r>
          </a:p>
        </p:txBody>
      </p:sp>
      <p:sp>
        <p:nvSpPr>
          <p:cNvPr id="56" name="Oval 55"/>
          <p:cNvSpPr/>
          <p:nvPr/>
        </p:nvSpPr>
        <p:spPr>
          <a:xfrm>
            <a:off x="6986016" y="5193792"/>
            <a:ext cx="109728" cy="109728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BB78"/>
                </a:solidFill>
                <a:latin typeface="Calibri"/>
              </a:defRPr>
            </a:pPr>
            <a:r>
              <a:t>2027.Q1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种子轮融资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5669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AD55"/>
                </a:solidFill>
                <a:latin typeface="微软雅黑"/>
              </a:defRPr>
            </a:pPr>
            <a:r>
              <a:t>正在寻找: 技术合伙人 + 运营合伙人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920240"/>
            <a:ext cx="1828800" cy="508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2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CCCCC"/>
                </a:solidFill>
                <a:latin typeface="微软雅黑"/>
              </a:defRPr>
            </a:pPr>
            <a:r>
              <a:t>小张用了XUNO，3分钟搞定面试穿搭。</a:t>
            </a:r>
          </a:p>
          <a:p>
            <a:pPr algn="l"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微软雅黑"/>
              </a:defRPr>
            </a:pPr>
            <a:r>
              <a:t>面试那天，他自信地走进大楼——</a:t>
            </a:r>
          </a:p>
          <a:p>
            <a:pPr algn="l"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 b="1">
                <a:solidFill>
                  <a:srgbClr val="C4956A"/>
                </a:solidFill>
                <a:latin typeface="微软雅黑"/>
              </a:defRPr>
            </a:pPr>
            <a:r>
              <a:t>不是因为西装穿得好，而是因为穿得对。</a:t>
            </a:r>
          </a:p>
          <a:p>
            <a:pPr algn="l">
              <a:lnSpc>
                <a:spcPts val="1200"/>
              </a:lnSpc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F6AD55"/>
                </a:solidFill>
                <a:latin typeface="微软雅黑"/>
              </a:defRPr>
            </a:pPr>
            <a:r>
              <a:t>900万个小张，都值得这份自信。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3474720" cy="3474720"/>
          </a:xfrm>
          <a:prstGeom prst="rect">
            <a:avLst/>
          </a:prstGeom>
          <a:solidFill>
            <a:srgbClr val="1E1E38"/>
          </a:solidFill>
          <a:ln w="12700">
            <a:solidFill>
              <a:srgbClr val="C4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[ 扫码体验</a:t>
            </a:r>
            <a:br/>
            <a:r>
              <a:t>你的第一套</a:t>
            </a:r>
            <a:br/>
            <a:r>
              <a:t>面试穿搭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100名大学生免费体验面试穿搭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导师: 时尚行业/投资领域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合作: 高校就业指导中心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袁荣跃 | 寻裳 XUNO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联系方式: [微信/邮箱]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86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956A"/>
                </a:solidFill>
                <a:latin typeface="微软雅黑"/>
              </a:defRPr>
            </a:pPr>
            <a:r>
              <a:t>欢迎提问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